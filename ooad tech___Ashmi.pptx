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45A68A-E93B-694A-8C95-F2C104D4024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EBD-A9DD-0447-8E82-6BA24DFE78D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3.pn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96595" y="3648075"/>
            <a:ext cx="10761980" cy="5010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kern="0" spc="200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CSA1109-OBJECT-ORIENTED ANALYSIS &amp; DESIGN</a:t>
            </a:r>
            <a:endParaRPr lang="en-US" b="1" kern="0" spc="200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93420" y="1874520"/>
            <a:ext cx="10798175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Need for Object-Oriented</a:t>
            </a:r>
            <a:endParaRPr lang="en-US" sz="54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5400" b="1" dirty="0"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Systems Development</a:t>
            </a:r>
            <a:endParaRPr lang="en-US" sz="5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42769" y="4725087"/>
            <a:ext cx="287382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PRESENTED BY: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ASHMI P</a:t>
            </a:r>
            <a:r>
              <a:rPr lang="en-IN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en-IN" altLang="en-US" sz="2000" dirty="0"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192571004</a:t>
            </a:r>
            <a:r>
              <a:rPr lang="en-IN" altLang="en-US" sz="2000" dirty="0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IN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77240"/>
            <a:ext cx="1104519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Limits of the Traditional Approach</a:t>
            </a:r>
            <a:endParaRPr lang="en-US" sz="4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828800"/>
            <a:ext cx="1059561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8090B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Traditional development </a:t>
            </a:r>
            <a:r>
              <a:rPr 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treats a program as a sequence of steps (functions) that read and modify data stored separately from those functions.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1045" y="2926080"/>
            <a:ext cx="1059307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8090B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108960"/>
            <a:ext cx="10534015" cy="56705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charset="0"/>
              <a:buChar char="§"/>
            </a:pPr>
            <a:r>
              <a:rPr lang="en-US" sz="2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and functions are kept apart — any function can freely read or change shared data, with nothing to guard it</a:t>
            </a:r>
            <a:r>
              <a:rPr lang="en-IN" altLang="en-US" sz="20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IN" altLang="en-US" sz="2000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3595" y="3945890"/>
            <a:ext cx="10534015" cy="56705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charset="0"/>
              <a:buChar char="§"/>
            </a:pPr>
            <a:r>
              <a:rPr 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The same logic gets rewritten in multiple places instead of being reused</a:t>
            </a:r>
            <a:r>
              <a:rPr lang="en-IN" alt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.</a:t>
            </a:r>
            <a:endParaRPr lang="en-IN" altLang="en-US" sz="2000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3595" y="4425950"/>
            <a:ext cx="10533380" cy="56705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charset="0"/>
              <a:buChar char="§"/>
            </a:pPr>
            <a:r>
              <a:rPr 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 change made in one part of the program can silently break an unrelated part</a:t>
            </a:r>
            <a:r>
              <a:rPr lang="en-IN" alt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.</a:t>
            </a:r>
            <a:endParaRPr lang="en-IN" altLang="en-US" sz="2000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4230" y="5083810"/>
            <a:ext cx="10532745" cy="56705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charset="0"/>
              <a:buChar char="§"/>
            </a:pPr>
            <a:r>
              <a:rPr 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Code structure doesn’t map naturally to the real-world things it’s meant to represent (customers, accounts, orders)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777240"/>
            <a:ext cx="1060767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Software Outgrew the Old Approach</a:t>
            </a:r>
            <a:endParaRPr lang="en-US" sz="40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0885" y="1828800"/>
            <a:ext cx="33197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8090B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6615" y="2011680"/>
            <a:ext cx="296545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Larger</a:t>
            </a:r>
            <a:endParaRPr lang="en-US" sz="24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3044952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Applications grew from small scripts to millions of lines built by large teams</a:t>
            </a:r>
            <a:r>
              <a:rPr lang="en-IN" alt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.</a:t>
            </a:r>
            <a:endParaRPr lang="en-IN" altLang="en-US" sz="2000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25112" y="1828800"/>
            <a:ext cx="350215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8090B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2011680"/>
            <a:ext cx="3044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Longer-lived</a:t>
            </a:r>
            <a:endParaRPr lang="en-US" sz="24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53712" y="2542032"/>
            <a:ext cx="3044952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Systems stayed in use and kept changing for years, not just one release</a:t>
            </a:r>
            <a:r>
              <a:rPr lang="en-IN" alt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.</a:t>
            </a:r>
            <a:endParaRPr lang="en-IN" altLang="en-US" sz="2000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01330" y="1828800"/>
            <a:ext cx="329120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8090B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30184" y="2011680"/>
            <a:ext cx="3044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Less stable</a:t>
            </a:r>
            <a:endParaRPr lang="en-US" sz="24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301355" y="2541905"/>
            <a:ext cx="30734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Business requirements kept shifting after deployment, demanding constant rework</a:t>
            </a:r>
            <a:r>
              <a:rPr lang="en-IN" alt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.</a:t>
            </a:r>
            <a:endParaRPr lang="en-IN" altLang="en-US" sz="2000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56615" y="3977640"/>
            <a:ext cx="10417175" cy="176593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8090B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1148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5A6685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The result</a:t>
            </a:r>
            <a:endParaRPr lang="en-US" sz="2400" b="1" kern="0" spc="100" dirty="0">
              <a:solidFill>
                <a:srgbClr val="5A6685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1042416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With shared, unprotected data and duplicated logic, bugs became harder to isolate — more code was touching the same data, so a fix in one place could quietly create a problem somewhere else.</a:t>
            </a:r>
            <a:endParaRPr lang="en-US" sz="2000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77240"/>
            <a:ext cx="11115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What Development Really Needed</a:t>
            </a:r>
            <a:endParaRPr lang="en-US" sz="40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63500" dist="25400" dir="5400000" algn="bl" rotWithShape="0">
              <a:srgbClr val="8090B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11680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1</a:t>
            </a:r>
            <a:endParaRPr lang="en-US" sz="15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17320" y="1947672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Manage complexity</a:t>
            </a:r>
            <a:endParaRPr lang="en-US" sz="24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34635" y="1947545"/>
            <a:ext cx="609536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Break large systems into smaller, self-contained units</a:t>
            </a:r>
            <a:endParaRPr lang="en-US" sz="2000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71576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63500" dist="25400" dir="5400000" algn="bl" rotWithShape="0">
              <a:srgbClr val="8090B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852928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52928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2</a:t>
            </a:r>
            <a:endParaRPr lang="en-US" sz="15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17320" y="278892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Model the real world</a:t>
            </a:r>
            <a:endParaRPr lang="en-US" sz="24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34635" y="2788920"/>
            <a:ext cx="609536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Represent real entities customers, orders, accounts directly in code</a:t>
            </a:r>
            <a:endParaRPr lang="en-US" sz="2000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63500" dist="25400" dir="5400000" algn="bl" rotWithShape="0">
              <a:srgbClr val="8090B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94176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94176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3</a:t>
            </a:r>
            <a:endParaRPr lang="en-US" sz="15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17320" y="3630168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Protect data</a:t>
            </a:r>
            <a:endParaRPr lang="en-US" sz="24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34635" y="3630295"/>
            <a:ext cx="609536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Control who can see or change an object’s internal data</a:t>
            </a:r>
            <a:endParaRPr lang="en-US" sz="2000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39826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63500" dist="25400" dir="5400000" algn="bl" rotWithShape="0">
              <a:srgbClr val="8090B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535424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535424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4</a:t>
            </a:r>
            <a:endParaRPr lang="en-US" sz="15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17320" y="4471416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Reuse proven code</a:t>
            </a:r>
            <a:endParaRPr lang="en-US" sz="24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34000" y="4471670"/>
            <a:ext cx="6096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Build new features from existing components instead of rewriting</a:t>
            </a:r>
            <a:endParaRPr lang="en-US" sz="2000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523951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63500" dist="25400" dir="5400000" algn="bl" rotWithShape="0">
              <a:srgbClr val="8090B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376672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376672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5</a:t>
            </a:r>
            <a:endParaRPr lang="en-US" sz="15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417320" y="5312410"/>
            <a:ext cx="362839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Adapt without breaking things</a:t>
            </a:r>
            <a:endParaRPr lang="en-US" sz="20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334635" y="5312410"/>
            <a:ext cx="609536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Extend or change behavior without disturbing code that already works</a:t>
            </a:r>
            <a:endParaRPr lang="en-US" sz="2000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0070" y="777240"/>
            <a:ext cx="1101979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How Object Orientation Meets These Needs</a:t>
            </a:r>
            <a:endParaRPr lang="en-US" sz="40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825500" y="1874520"/>
          <a:ext cx="10546080" cy="4029710"/>
        </p:xfrm>
        <a:graphic>
          <a:graphicData uri="http://schemas.openxmlformats.org/drawingml/2006/table">
            <a:tbl>
              <a:tblPr/>
              <a:tblGrid>
                <a:gridCol w="2614930"/>
                <a:gridCol w="2701290"/>
                <a:gridCol w="5229860"/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Need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OO Concept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What It Does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Manage complexity</a:t>
                      </a:r>
                      <a:endParaRPr lang="en-US" sz="2000" b="1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Objects &amp; Classes</a:t>
                      </a:r>
                      <a:endParaRPr lang="en-US" sz="2000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Bundle data and behavior into self-contained units</a:t>
                      </a:r>
                      <a:endParaRPr lang="en-US" sz="2000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Model the real world</a:t>
                      </a:r>
                      <a:endParaRPr lang="en-US" sz="2000" b="1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Classes</a:t>
                      </a:r>
                      <a:endParaRPr lang="en-US" sz="2000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Represent real entities with attributes and methods</a:t>
                      </a:r>
                      <a:endParaRPr lang="en-US" sz="2000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Protect data</a:t>
                      </a:r>
                      <a:endParaRPr lang="en-US" sz="2000" b="1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Encapsulation</a:t>
                      </a:r>
                      <a:endParaRPr lang="en-US" sz="2000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Hides internal data behind a controlled interface</a:t>
                      </a:r>
                      <a:endParaRPr lang="en-US" sz="2000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Reuse proven code</a:t>
                      </a:r>
                      <a:endParaRPr lang="en-US" sz="2000" b="1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Inheritance</a:t>
                      </a:r>
                      <a:endParaRPr lang="en-US" sz="2000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New classes build on existing ones instead of starting over</a:t>
                      </a:r>
                      <a:endParaRPr lang="en-US" sz="2000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Adapt safely</a:t>
                      </a:r>
                      <a:endParaRPr lang="en-US" sz="2000" b="1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Polymorphism &amp; Relationships</a:t>
                      </a:r>
                      <a:endParaRPr lang="en-US" sz="2000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Let objects extend or connect without breaking existing code</a:t>
                      </a:r>
                      <a:endParaRPr lang="en-US" sz="2000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750" y="850392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Traditional vs. Object-Oriented</a:t>
            </a:r>
            <a:endParaRPr lang="en-US" sz="4000" b="1" dirty="0"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730250" y="1508760"/>
          <a:ext cx="10729595" cy="4224655"/>
        </p:xfrm>
        <a:graphic>
          <a:graphicData uri="http://schemas.openxmlformats.org/drawingml/2006/table">
            <a:tbl>
              <a:tblPr/>
              <a:tblGrid>
                <a:gridCol w="2393950"/>
                <a:gridCol w="4168140"/>
                <a:gridCol w="4167505"/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Aspect</a:t>
                      </a:r>
                      <a:endParaRPr lang="en-US" sz="2400" b="1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Traditional (Procedural)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2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Object-Oriented</a:t>
                      </a:r>
                      <a:endParaRPr lang="en-US" sz="240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4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Focus</a:t>
                      </a:r>
                      <a:endParaRPr lang="en-US" sz="2000" b="1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Functions acting on data</a:t>
                      </a:r>
                      <a:endParaRPr lang="en-US" sz="2000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Objects combining data + behavior</a:t>
                      </a:r>
                      <a:endParaRPr lang="en-US" sz="2000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Data handling</a:t>
                      </a:r>
                      <a:endParaRPr lang="en-US" sz="2000" b="1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Shared, largely unprotected</a:t>
                      </a:r>
                      <a:endParaRPr lang="en-US" sz="2000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Encapsulated, access-controlled</a:t>
                      </a:r>
                      <a:endParaRPr lang="en-US" sz="2000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Reusability</a:t>
                      </a:r>
                      <a:endParaRPr lang="en-US" sz="2000" b="1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Copy-paste, limited</a:t>
                      </a:r>
                      <a:endParaRPr lang="en-US" sz="2000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Built in, via inheritance</a:t>
                      </a:r>
                      <a:endParaRPr lang="en-US" sz="2000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Maintainability</a:t>
                      </a:r>
                      <a:endParaRPr lang="en-US" sz="2000" b="1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Difficult as systems grow</a:t>
                      </a:r>
                      <a:endParaRPr lang="en-US" sz="2000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Easier isolated, modular changes</a:t>
                      </a:r>
                      <a:endParaRPr lang="en-US" sz="2000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Real-world mapping</a:t>
                      </a:r>
                      <a:endParaRPr lang="en-US" sz="2000" b="1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Indirect, abstract</a:t>
                      </a:r>
                      <a:endParaRPr lang="en-US" sz="2000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E276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Natural objects mirror real entities</a:t>
                      </a:r>
                      <a:endParaRPr lang="en-US" sz="2000" dirty="0">
                        <a:solidFill>
                          <a:srgbClr val="1E276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1107884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Conclusion</a:t>
            </a:r>
            <a:endParaRPr lang="en-US" sz="40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78510" y="1530985"/>
            <a:ext cx="10607040" cy="1519555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81582"/>
            <a:ext cx="1042416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Object orientation wasn’t adopted for its own sake. </a:t>
            </a:r>
            <a:r>
              <a:rPr lang="en-US" sz="240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It exists because growing, long-lived, ever-changing software needed a better way to manage complexity, protect data, and reuse work.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1210" y="3291840"/>
            <a:ext cx="10614660" cy="2783205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8090B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24128" y="3291840"/>
            <a:ext cx="1033272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buFont typeface="Wingdings" panose="05000000000000000000" charset="0"/>
              <a:buChar char="§"/>
            </a:pPr>
            <a:r>
              <a:rPr 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Complexity → solved by breaking systems into objects and classes</a:t>
            </a:r>
            <a:endParaRPr lang="en-US" sz="2000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24128" y="3913632"/>
            <a:ext cx="1033272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charset="0"/>
              <a:buChar char="§"/>
            </a:pPr>
            <a:r>
              <a:rPr 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Fragility → solved by encapsulating and protecting data</a:t>
            </a:r>
            <a:endParaRPr lang="en-US" sz="2000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4128" y="4535424"/>
            <a:ext cx="1033272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charset="0"/>
              <a:buChar char="§"/>
            </a:pPr>
            <a:r>
              <a:rPr 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Duplicated effort → solved by reusing code through inheritance</a:t>
            </a:r>
            <a:endParaRPr lang="en-US" sz="2000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24128" y="5157216"/>
            <a:ext cx="1033272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Wingdings" panose="05000000000000000000" charset="0"/>
              <a:buChar char="§"/>
            </a:pPr>
            <a:r>
              <a:rPr lang="en-US" sz="2000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Constant change → solved by relationships and polymorphism that let systems adapt safely</a:t>
            </a:r>
            <a:endParaRPr lang="en-US" sz="2000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730" y="850265"/>
            <a:ext cx="10774045" cy="5104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sz="9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9600" dirty="0"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lang="en-IN" sz="9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</a:rPr>
              <a:t>PRESENTATION SLIDE</a:t>
            </a:r>
            <a:endParaRPr lang="en-I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4385" y="2578100"/>
            <a:ext cx="2663190" cy="355092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0</TotalTime>
  <Words>2992</Words>
  <Application>WPS Presentation</Application>
  <PresentationFormat>Widescreen</PresentationFormat>
  <Paragraphs>162</Paragraphs>
  <Slides>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SimSun</vt:lpstr>
      <vt:lpstr>Wingdings</vt:lpstr>
      <vt:lpstr>Arial</vt:lpstr>
      <vt:lpstr>Times New Roman</vt:lpstr>
      <vt:lpstr>Calibri</vt:lpstr>
      <vt:lpstr>Cambria</vt:lpstr>
      <vt:lpstr>Wingdings</vt:lpstr>
      <vt:lpstr>Calibri</vt:lpstr>
      <vt:lpstr>Calibri</vt:lpstr>
      <vt:lpstr>Microsoft YaHei</vt:lpstr>
      <vt:lpstr>Arial Unicode MS</vt:lpstr>
      <vt:lpstr>Garamond</vt:lpstr>
      <vt:lpstr>Aptos</vt:lpstr>
      <vt:lpstr>Segoe UI</vt:lpstr>
      <vt:lpstr>Organic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Ashmi Ashmi</cp:lastModifiedBy>
  <cp:revision>5</cp:revision>
  <dcterms:created xsi:type="dcterms:W3CDTF">2026-07-22T14:34:00Z</dcterms:created>
  <dcterms:modified xsi:type="dcterms:W3CDTF">2026-07-23T06:08:59Z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CDF478FFC91C46F0B08AA8AFE6CC5318_13</vt:lpwstr>
  </property>
</Properties>
</file>